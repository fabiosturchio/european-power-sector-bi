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3" autoAdjust="0"/>
    <p:restoredTop sz="94660"/>
  </p:normalViewPr>
  <p:slideViewPr>
    <p:cSldViewPr snapToGrid="0">
      <p:cViewPr varScale="1">
        <p:scale>
          <a:sx n="73" d="100"/>
          <a:sy n="73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6D61BA-FD0C-3D2B-18FD-34D177C4E5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E6BF2E2-B58D-5CF3-3E9D-7DF344F99D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1040277-C4ED-0FCB-D1D9-BE0FD5C7A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F448-B600-4D22-B802-D3569ADB3FC9}" type="datetimeFigureOut">
              <a:rPr lang="it-IT" smtClean="0"/>
              <a:t>06/10/2026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843DF47-B5A3-C0E8-72FF-923E4D69B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8DBFADF-4A32-5E7D-9BCD-08CAF4DAB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B4DC8-E314-4C7D-B406-E022B9078D5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35822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C9098C6-130C-ACA6-10C5-58C653A3E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A7FE028-373F-62AB-1063-69E77CC425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4C0BC7A-9FCD-93BE-0389-4518C7774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F448-B600-4D22-B802-D3569ADB3FC9}" type="datetimeFigureOut">
              <a:rPr lang="it-IT" smtClean="0"/>
              <a:t>06/10/2026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39AE395-D945-21FD-E460-C5A3A2AED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F1104F2-3ECA-264F-C001-C19102108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B4DC8-E314-4C7D-B406-E022B9078D5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36046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ED02C2-D684-A38F-BC79-6F2B5ED6A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A76863B-7F88-5CA8-5191-37AFAFD12F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7ABD60E-9501-F3AC-57B0-C11A185A6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F448-B600-4D22-B802-D3569ADB3FC9}" type="datetimeFigureOut">
              <a:rPr lang="it-IT" smtClean="0"/>
              <a:t>06/10/2026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D0C4E46-5894-3265-7741-7A3541B4E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5A13C5D-1364-8440-C439-96B12659A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B4DC8-E314-4C7D-B406-E022B9078D5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64011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1EA90EF-8725-94B6-D182-C22D6E993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9113F72-2ACB-5167-4247-1AD7183FFA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00143A4-488D-3B57-8CA7-67EED15253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5514636-4417-F181-0F28-054EC33BC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F448-B600-4D22-B802-D3569ADB3FC9}" type="datetimeFigureOut">
              <a:rPr lang="it-IT" smtClean="0"/>
              <a:t>06/10/2026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E535EA5-3512-D0AB-0886-089B5575D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052078B-4065-5112-65CB-8122356FA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B4DC8-E314-4C7D-B406-E022B9078D5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86117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01DDA2-9523-BBB6-0BC7-C1B3B6742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3C2DFE2-3F60-A05C-2C59-9CE3A676A3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993CA79-3232-3324-60B7-97D3AAF46C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23FBFA66-D066-F07D-F00C-5F25A06908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FDEEAEC2-DEFD-E1D9-1C12-744851CE34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B5FCA7B5-B958-0C6B-8F67-2D9795B9F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F448-B600-4D22-B802-D3569ADB3FC9}" type="datetimeFigureOut">
              <a:rPr lang="it-IT" smtClean="0"/>
              <a:t>06/10/2026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0093AD93-1DA2-43EE-9D3D-8B653BE55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1F8CEEC5-F7B4-8B81-FCAB-57134C25A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B4DC8-E314-4C7D-B406-E022B9078D5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31499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F8AA73-6A91-FC19-F0DC-00A640EDE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E7E54A09-6BE7-670E-B18A-3DBABDC9A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F448-B600-4D22-B802-D3569ADB3FC9}" type="datetimeFigureOut">
              <a:rPr lang="it-IT" smtClean="0"/>
              <a:t>06/10/2026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3A1BCCB-CB7E-09CB-1C86-D9DA0E619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6B98540-1210-3776-9B18-C0A5925D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B4DC8-E314-4C7D-B406-E022B9078D5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52805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FEDCAF95-138C-5B90-CDF7-F100D5FDD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F448-B600-4D22-B802-D3569ADB3FC9}" type="datetimeFigureOut">
              <a:rPr lang="it-IT" smtClean="0"/>
              <a:t>06/10/2026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588354E-CACA-FE47-4F4B-18355B5AC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FBD68C4-F06D-8033-EA70-EB7134B4F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B4DC8-E314-4C7D-B406-E022B9078D5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5081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7A71713-B2BE-8079-F947-9B1FEDE84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6BC96A6-81EF-D0CE-7784-EDA2FAF4E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23D0D81-D660-4A87-0E62-C8AEDA5327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4BF700A-93B3-D87B-5CA4-B77BF441A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F448-B600-4D22-B802-D3569ADB3FC9}" type="datetimeFigureOut">
              <a:rPr lang="it-IT" smtClean="0"/>
              <a:t>06/10/2026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02D7C1A-B046-EC9C-5CA4-5D6E22A1D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784A405-E76E-AC12-B9C7-56548B934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B4DC8-E314-4C7D-B406-E022B9078D5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23539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1877EBC-DD49-7AE9-5EAD-82BBE9286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66C1183A-3FF4-D074-A0DA-BDF9C835E5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03CA70D-390C-48D1-1096-FD2DA25EB1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3323B28-41BF-82F9-460B-0C01F2E55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F448-B600-4D22-B802-D3569ADB3FC9}" type="datetimeFigureOut">
              <a:rPr lang="it-IT" smtClean="0"/>
              <a:t>06/10/2026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CD3D3B1-2ACB-388E-82FD-16C50E0A2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CD465DC-F294-DA76-E5D5-2BE064942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B4DC8-E314-4C7D-B406-E022B9078D5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1625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EFFFB35-C18F-4B1A-7271-333C6116A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BCC3E75-FF03-47C4-ED47-4648956F5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F60E08C-0076-4D94-90C7-658C2A1A9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F448-B600-4D22-B802-D3569ADB3FC9}" type="datetimeFigureOut">
              <a:rPr lang="it-IT" smtClean="0"/>
              <a:t>06/10/2026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4C84E57-4BC4-45BE-C7E0-3274930E0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D3D81B8-30A5-B241-8751-93D7FD89B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B4DC8-E314-4C7D-B406-E022B9078D5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16308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CE7BBA84-4BD9-4E41-0C3D-F46F717C33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9649BEAE-0BF9-0E44-453C-6B53A06BB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28D6B58-8081-C048-91E4-CC6C62A63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F448-B600-4D22-B802-D3569ADB3FC9}" type="datetimeFigureOut">
              <a:rPr lang="it-IT" smtClean="0"/>
              <a:t>06/10/2026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7C88CE7-3E7E-A9FF-31D7-3DF070975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9764984-7B24-FB24-AC1F-A23B85B49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B4DC8-E314-4C7D-B406-E022B9078D5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25495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E6CA2A5D-E3DF-732A-A833-A6ACA9A39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703E41E-848B-032A-325A-9527BDD56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5C23AFE-444A-3E22-CBEB-17545766E0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FDF448-B600-4D22-B802-D3569ADB3FC9}" type="datetimeFigureOut">
              <a:rPr lang="it-IT" smtClean="0"/>
              <a:t>06/10/2026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51419BC-98E6-F5A7-5253-694BC96A31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E408F34-0207-5AC8-D0AC-5495F8BECE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3B4DC8-E314-4C7D-B406-E022B9078D5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62641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A76AC3C-9ECD-D4A6-769D-D1B661624C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43670"/>
            <a:ext cx="9144000" cy="1175657"/>
          </a:xfrm>
        </p:spPr>
        <p:txBody>
          <a:bodyPr/>
          <a:lstStyle/>
          <a:p>
            <a:r>
              <a:rPr lang="it-IT" b="1" dirty="0" err="1"/>
              <a:t>European</a:t>
            </a:r>
            <a:r>
              <a:rPr lang="it-IT" b="1" dirty="0"/>
              <a:t> Power Sector BI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57253876-422D-D8A5-8491-20AC531F60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42141"/>
            <a:ext cx="9144000" cy="1296533"/>
          </a:xfrm>
        </p:spPr>
        <p:txBody>
          <a:bodyPr/>
          <a:lstStyle/>
          <a:p>
            <a:r>
              <a:rPr lang="en-US" dirty="0"/>
              <a:t>End-to-End Business Intelligence Analysis</a:t>
            </a:r>
            <a:br>
              <a:rPr lang="en-US" dirty="0"/>
            </a:br>
            <a:r>
              <a:rPr lang="en-US" dirty="0"/>
              <a:t>Electricity Generation, Energy Mix &amp; Emissions | 2015–2024</a:t>
            </a:r>
            <a:br>
              <a:rPr lang="en-US" dirty="0"/>
            </a:br>
            <a:r>
              <a:rPr lang="en-US" dirty="0"/>
              <a:t>SQL Server • Power Query • Power BI • DAX</a:t>
            </a:r>
            <a:endParaRPr lang="it-IT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0A04588-1115-2DCF-2241-48E6EB662172}"/>
              </a:ext>
            </a:extLst>
          </p:cNvPr>
          <p:cNvSpPr txBox="1"/>
          <p:nvPr/>
        </p:nvSpPr>
        <p:spPr>
          <a:xfrm>
            <a:off x="5266508" y="5722574"/>
            <a:ext cx="1658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Fabio </a:t>
            </a:r>
            <a:r>
              <a:rPr lang="it-IT" dirty="0" err="1"/>
              <a:t>Sturchio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41633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5ECFF6F-638A-9F1F-B6E3-863AC0D53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b="1" dirty="0"/>
              <a:t>Project </a:t>
            </a:r>
            <a:r>
              <a:rPr lang="it-IT" b="1" dirty="0" err="1"/>
              <a:t>Overview</a:t>
            </a:r>
            <a:endParaRPr lang="it-IT" b="1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77AEB3D-EFF8-86C1-A764-7BCCCD523C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it-IT" dirty="0"/>
              <a:t>• </a:t>
            </a:r>
            <a:r>
              <a:rPr lang="it-IT" dirty="0" err="1"/>
              <a:t>Objective</a:t>
            </a:r>
            <a:r>
              <a:rPr lang="it-IT" dirty="0"/>
              <a:t>: </a:t>
            </a:r>
            <a:r>
              <a:rPr lang="it-IT" dirty="0" err="1"/>
              <a:t>Analyze</a:t>
            </a:r>
            <a:r>
              <a:rPr lang="it-IT" dirty="0"/>
              <a:t> the </a:t>
            </a:r>
            <a:r>
              <a:rPr lang="it-IT" dirty="0" err="1"/>
              <a:t>evolution</a:t>
            </a:r>
            <a:r>
              <a:rPr lang="it-IT" dirty="0"/>
              <a:t> of the </a:t>
            </a:r>
            <a:r>
              <a:rPr lang="it-IT" dirty="0" err="1"/>
              <a:t>European</a:t>
            </a:r>
            <a:r>
              <a:rPr lang="it-IT" dirty="0"/>
              <a:t> power </a:t>
            </a:r>
            <a:r>
              <a:rPr lang="it-IT" dirty="0" err="1"/>
              <a:t>sector</a:t>
            </a: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• </a:t>
            </a:r>
            <a:r>
              <a:rPr lang="it-IT" dirty="0" err="1"/>
              <a:t>Period</a:t>
            </a:r>
            <a:r>
              <a:rPr lang="it-IT" dirty="0"/>
              <a:t>: 2015–2024</a:t>
            </a:r>
          </a:p>
          <a:p>
            <a:endParaRPr lang="it-IT" dirty="0"/>
          </a:p>
          <a:p>
            <a:pPr marL="0" indent="0">
              <a:buNone/>
            </a:pPr>
            <a:r>
              <a:rPr lang="it-IT" dirty="0"/>
              <a:t>• Focus: </a:t>
            </a:r>
            <a:r>
              <a:rPr lang="it-IT" dirty="0" err="1"/>
              <a:t>Electricity</a:t>
            </a:r>
            <a:r>
              <a:rPr lang="it-IT" dirty="0"/>
              <a:t> generation, energy mix and </a:t>
            </a:r>
            <a:r>
              <a:rPr lang="it-IT" dirty="0" err="1"/>
              <a:t>emissions</a:t>
            </a:r>
            <a:endParaRPr lang="it-IT" dirty="0"/>
          </a:p>
          <a:p>
            <a:endParaRPr lang="it-IT" dirty="0"/>
          </a:p>
          <a:p>
            <a:pPr marL="0" indent="0">
              <a:buNone/>
            </a:pPr>
            <a:r>
              <a:rPr lang="it-IT" dirty="0"/>
              <a:t>• Workflow: </a:t>
            </a:r>
            <a:r>
              <a:rPr lang="it-IT" dirty="0" err="1"/>
              <a:t>Raw</a:t>
            </a:r>
            <a:r>
              <a:rPr lang="it-IT" dirty="0"/>
              <a:t> Data → SQL Server → Power Query → Star Schema → DAX → Power BI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• Output: Interactive 3-page Power BI dashboard</a:t>
            </a:r>
          </a:p>
        </p:txBody>
      </p:sp>
    </p:spTree>
    <p:extLst>
      <p:ext uri="{BB962C8B-B14F-4D97-AF65-F5344CB8AC3E}">
        <p14:creationId xmlns:p14="http://schemas.microsoft.com/office/powerpoint/2010/main" val="1455402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B811E3-0B27-623E-B4AF-44DF03200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2062"/>
            <a:ext cx="10515600" cy="863946"/>
          </a:xfrm>
        </p:spPr>
        <p:txBody>
          <a:bodyPr/>
          <a:lstStyle/>
          <a:p>
            <a:pPr algn="ctr"/>
            <a:r>
              <a:rPr lang="it-IT" b="1" dirty="0"/>
              <a:t>Power BI Dashboard — </a:t>
            </a:r>
            <a:r>
              <a:rPr lang="it-IT" b="1" dirty="0" err="1"/>
              <a:t>Overview</a:t>
            </a:r>
            <a:endParaRPr lang="it-IT" b="1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11F9EA34-6952-8371-DB61-7E5499FF50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0869" y="1354061"/>
            <a:ext cx="7865452" cy="5266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763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8E70D31-8EB8-F90F-658D-39556B089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Power BI Dashboard — Energy Mix</a:t>
            </a:r>
            <a:endParaRPr lang="it-IT" b="1" dirty="0"/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28192DF6-EC9B-490A-41F5-3BF1917C5C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8927" y="1433739"/>
            <a:ext cx="5357062" cy="4829037"/>
          </a:xfrm>
        </p:spPr>
      </p:pic>
    </p:spTree>
    <p:extLst>
      <p:ext uri="{BB962C8B-B14F-4D97-AF65-F5344CB8AC3E}">
        <p14:creationId xmlns:p14="http://schemas.microsoft.com/office/powerpoint/2010/main" val="2047708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396F6D-9540-3775-1ACF-B536134B6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b="1" dirty="0"/>
              <a:t>Power BI Dashboard — </a:t>
            </a:r>
            <a:r>
              <a:rPr lang="it-IT" b="1" dirty="0" err="1"/>
              <a:t>Emissions</a:t>
            </a:r>
            <a:br>
              <a:rPr lang="it-IT" dirty="0"/>
            </a:br>
            <a:endParaRPr lang="it-IT" dirty="0"/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C10EFE21-0822-8F7C-645F-48F13B0F3F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6036" y="1160679"/>
            <a:ext cx="8099927" cy="5423636"/>
          </a:xfrm>
        </p:spPr>
      </p:pic>
    </p:spTree>
    <p:extLst>
      <p:ext uri="{BB962C8B-B14F-4D97-AF65-F5344CB8AC3E}">
        <p14:creationId xmlns:p14="http://schemas.microsoft.com/office/powerpoint/2010/main" val="3060756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DA2271B-4ECF-7F2C-A9A6-AB529A889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b="1" dirty="0"/>
              <a:t>Key Insights &amp; </a:t>
            </a:r>
            <a:r>
              <a:rPr lang="it-IT" b="1" dirty="0" err="1"/>
              <a:t>Conclusions</a:t>
            </a:r>
            <a:endParaRPr lang="it-IT" b="1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B068203-63A8-BB1B-20B1-A85CEAB3EE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t-IT" dirty="0"/>
              <a:t>• </a:t>
            </a:r>
            <a:r>
              <a:rPr lang="it-IT" dirty="0" err="1"/>
              <a:t>Renewable</a:t>
            </a:r>
            <a:r>
              <a:rPr lang="it-IT" dirty="0"/>
              <a:t> generation: +55.36% (2015–2024)</a:t>
            </a:r>
          </a:p>
          <a:p>
            <a:pPr marL="0" indent="0">
              <a:buNone/>
            </a:pPr>
            <a:r>
              <a:rPr lang="it-IT" dirty="0"/>
              <a:t>• Solar generation: +206.65%</a:t>
            </a:r>
          </a:p>
          <a:p>
            <a:pPr marL="0" indent="0">
              <a:buNone/>
            </a:pPr>
            <a:r>
              <a:rPr lang="it-IT" dirty="0"/>
              <a:t>• Wind generation: +85.86%</a:t>
            </a:r>
          </a:p>
          <a:p>
            <a:pPr marL="0" indent="0">
              <a:buNone/>
            </a:pPr>
            <a:r>
              <a:rPr lang="it-IT" dirty="0"/>
              <a:t>• Fossil generation: -35.48%</a:t>
            </a:r>
          </a:p>
          <a:p>
            <a:pPr marL="0" indent="0">
              <a:buNone/>
            </a:pPr>
            <a:r>
              <a:rPr lang="it-IT" dirty="0"/>
              <a:t>• Power-</a:t>
            </a:r>
            <a:r>
              <a:rPr lang="it-IT" dirty="0" err="1"/>
              <a:t>sector</a:t>
            </a:r>
            <a:r>
              <a:rPr lang="it-IT" dirty="0"/>
              <a:t> </a:t>
            </a:r>
            <a:r>
              <a:rPr lang="it-IT" dirty="0" err="1"/>
              <a:t>emissions</a:t>
            </a:r>
            <a:r>
              <a:rPr lang="it-IT" dirty="0"/>
              <a:t>: -41.33%</a:t>
            </a:r>
          </a:p>
          <a:p>
            <a:pPr marL="0" indent="0">
              <a:buNone/>
            </a:pPr>
            <a:r>
              <a:rPr lang="it-IT" dirty="0"/>
              <a:t>• </a:t>
            </a:r>
            <a:r>
              <a:rPr lang="it-IT" dirty="0" err="1"/>
              <a:t>Emissions</a:t>
            </a:r>
            <a:r>
              <a:rPr lang="it-IT" dirty="0"/>
              <a:t> </a:t>
            </a:r>
            <a:r>
              <a:rPr lang="it-IT" dirty="0" err="1"/>
              <a:t>intensity</a:t>
            </a:r>
            <a:r>
              <a:rPr lang="it-IT" dirty="0"/>
              <a:t>: -39.24%</a:t>
            </a:r>
          </a:p>
          <a:p>
            <a:pPr marL="0" indent="0">
              <a:buNone/>
            </a:pPr>
            <a:r>
              <a:rPr lang="it-IT" dirty="0"/>
              <a:t>• Key takeaway: strong shift </a:t>
            </a:r>
            <a:r>
              <a:rPr lang="it-IT" dirty="0" err="1"/>
              <a:t>toward</a:t>
            </a:r>
            <a:r>
              <a:rPr lang="it-IT" dirty="0"/>
              <a:t> </a:t>
            </a:r>
            <a:r>
              <a:rPr lang="it-IT" dirty="0" err="1"/>
              <a:t>renewable</a:t>
            </a:r>
            <a:r>
              <a:rPr lang="it-IT" dirty="0"/>
              <a:t> generation and a </a:t>
            </a:r>
            <a:r>
              <a:rPr lang="it-IT" dirty="0" err="1"/>
              <a:t>lower</a:t>
            </a:r>
            <a:r>
              <a:rPr lang="it-IT" dirty="0"/>
              <a:t>-carbon </a:t>
            </a:r>
            <a:r>
              <a:rPr lang="it-IT" dirty="0" err="1"/>
              <a:t>European</a:t>
            </a:r>
            <a:r>
              <a:rPr lang="it-IT" dirty="0"/>
              <a:t> power mix.</a:t>
            </a:r>
          </a:p>
          <a:p>
            <a:pPr marL="0" indent="0">
              <a:buNone/>
            </a:pPr>
            <a:r>
              <a:rPr lang="en-US" sz="1900" b="1" dirty="0"/>
              <a:t>Key modeling challenge:</a:t>
            </a:r>
            <a:r>
              <a:rPr lang="en-US" sz="1900" dirty="0"/>
              <a:t> Overlapping aggregate and detailed source categories required careful KPI design to prevent double counting.</a:t>
            </a:r>
            <a:endParaRPr lang="it-IT" sz="1900" dirty="0"/>
          </a:p>
        </p:txBody>
      </p:sp>
    </p:spTree>
    <p:extLst>
      <p:ext uri="{BB962C8B-B14F-4D97-AF65-F5344CB8AC3E}">
        <p14:creationId xmlns:p14="http://schemas.microsoft.com/office/powerpoint/2010/main" val="287745447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</Words>
  <Application>Microsoft Office PowerPoint</Application>
  <PresentationFormat>Widescreen</PresentationFormat>
  <Paragraphs>25</Paragraphs>
  <Slides>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Tema di Office</vt:lpstr>
      <vt:lpstr>European Power Sector BI</vt:lpstr>
      <vt:lpstr>Project Overview</vt:lpstr>
      <vt:lpstr>Power BI Dashboard — Overview</vt:lpstr>
      <vt:lpstr>Power BI Dashboard — Energy Mix</vt:lpstr>
      <vt:lpstr>Power BI Dashboard — Emissions </vt:lpstr>
      <vt:lpstr>Key Insights &amp; 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STURCHIO</dc:creator>
  <cp:lastModifiedBy>FABIO STURCHIO</cp:lastModifiedBy>
  <cp:revision>1</cp:revision>
  <dcterms:created xsi:type="dcterms:W3CDTF">2026-10-06T20:28:18Z</dcterms:created>
  <dcterms:modified xsi:type="dcterms:W3CDTF">2026-10-06T20:28:24Z</dcterms:modified>
</cp:coreProperties>
</file>